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874519"/>
            <a:ext cx="146304" cy="1828800"/>
          </a:xfrm>
          <a:prstGeom prst="rect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34440" y="182880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Arial"/>
              </a:rPr>
              <a:t>MTK Common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52728" y="288036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00C2A8"/>
                </a:solidFill>
                <a:latin typeface="Arial"/>
              </a:rPr>
              <a:t>Manufacturing Test Kit (MTK GUI)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52728" y="3474720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rial"/>
              </a:rPr>
              <a:t>All-in-one: from design to platform, from net to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52728" y="3977639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C7D3E1"/>
                </a:solidFill>
                <a:latin typeface="Arial"/>
              </a:rPr>
              <a:t>One common platform for all NXP Commercial Boards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52728" y="4480560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C7D3E1"/>
                </a:solidFill>
                <a:latin typeface="Arial"/>
              </a:rPr>
              <a:t>ICT  →  Flash FAT  →  FCT  →  Flash OOBE</a:t>
            </a:r>
          </a:p>
        </p:txBody>
      </p:sp>
      <p:sp>
        <p:nvSpPr>
          <p:cNvPr id="9" name="Rectangle 8"/>
          <p:cNvSpPr/>
          <p:nvPr/>
        </p:nvSpPr>
        <p:spPr>
          <a:xfrm>
            <a:off x="1252728" y="6263640"/>
            <a:ext cx="9692640" cy="15240"/>
          </a:xfrm>
          <a:prstGeom prst="rect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52728" y="635508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7D3E1"/>
                </a:solidFill>
                <a:latin typeface="Arial"/>
              </a:rPr>
              <a:t>Developed &amp; deployed by NXP HWS-CC Team — all TE engineers  · 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9184"/>
            <a:ext cx="108813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E243D"/>
                </a:solidFill>
                <a:latin typeface="Arial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932688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A6B7C"/>
                </a:solidFill>
                <a:latin typeface="Arial"/>
              </a:rPr>
              <a:t>10 minutes · 6 topics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1183112" cy="17780"/>
          </a:xfrm>
          <a:prstGeom prst="rect">
            <a:avLst/>
          </a:prstGeom>
          <a:solidFill>
            <a:srgbClr val="D5D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554480"/>
            <a:ext cx="10515600" cy="713232"/>
          </a:xfrm>
          <a:prstGeom prst="rect">
            <a:avLst/>
          </a:prstGeom>
          <a:solidFill>
            <a:srgbClr val="F2F6FA"/>
          </a:solidFill>
          <a:ln w="9525">
            <a:solidFill>
              <a:srgbClr val="D5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554480"/>
            <a:ext cx="64008" cy="713232"/>
          </a:xfrm>
          <a:prstGeom prst="rect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24128" y="1728216"/>
            <a:ext cx="365760" cy="365760"/>
          </a:xfrm>
          <a:prstGeom prst="ellipse">
            <a:avLst/>
          </a:prstGeom>
          <a:solidFill>
            <a:srgbClr val="0E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1769364"/>
            <a:ext cx="3657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" y="1636776"/>
            <a:ext cx="9601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E243D"/>
                </a:solidFill>
                <a:latin typeface="Arial"/>
              </a:rPr>
              <a:t>What is MTK GUI?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1938528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A6B7C"/>
                </a:solidFill>
                <a:latin typeface="Arial"/>
              </a:rPr>
              <a:t>Platform overview, main interface &amp; Yaml Build tour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2340864"/>
            <a:ext cx="10515600" cy="713232"/>
          </a:xfrm>
          <a:prstGeom prst="rect">
            <a:avLst/>
          </a:prstGeom>
          <a:solidFill>
            <a:srgbClr val="F2F6FA"/>
          </a:solidFill>
          <a:ln w="9525">
            <a:solidFill>
              <a:srgbClr val="D5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" y="2340864"/>
            <a:ext cx="64008" cy="713232"/>
          </a:xfrm>
          <a:prstGeom prst="rect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24128" y="2514600"/>
            <a:ext cx="365760" cy="365760"/>
          </a:xfrm>
          <a:prstGeom prst="ellipse">
            <a:avLst/>
          </a:prstGeom>
          <a:solidFill>
            <a:srgbClr val="0E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4128" y="2555748"/>
            <a:ext cx="3657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72768" y="2423160"/>
            <a:ext cx="9601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E243D"/>
                </a:solidFill>
                <a:latin typeface="Arial"/>
              </a:rPr>
              <a:t>Why MTK?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72768" y="2724912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A6B7C"/>
                </a:solidFill>
                <a:latin typeface="Arial"/>
              </a:rPr>
              <a:t>Manual testing vs. LabVIEW / TestStand + PXI vs. MTK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3127248"/>
            <a:ext cx="10515600" cy="713232"/>
          </a:xfrm>
          <a:prstGeom prst="rect">
            <a:avLst/>
          </a:prstGeom>
          <a:solidFill>
            <a:srgbClr val="F2F6FA"/>
          </a:solidFill>
          <a:ln w="9525">
            <a:solidFill>
              <a:srgbClr val="D5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" y="3127248"/>
            <a:ext cx="64008" cy="713232"/>
          </a:xfrm>
          <a:prstGeom prst="rect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24128" y="3300984"/>
            <a:ext cx="365760" cy="365760"/>
          </a:xfrm>
          <a:prstGeom prst="ellipse">
            <a:avLst/>
          </a:prstGeom>
          <a:solidFill>
            <a:srgbClr val="0E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4128" y="3342132"/>
            <a:ext cx="3657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72768" y="3209544"/>
            <a:ext cx="9601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E243D"/>
                </a:solidFill>
                <a:latin typeface="Arial"/>
              </a:rPr>
              <a:t>Development &amp; Deployment Roadmap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72768" y="3511296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A6B7C"/>
                </a:solidFill>
                <a:latin typeface="Arial"/>
              </a:rPr>
              <a:t>What is done, what is in debug, what comes next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3913632"/>
            <a:ext cx="10515600" cy="713232"/>
          </a:xfrm>
          <a:prstGeom prst="rect">
            <a:avLst/>
          </a:prstGeom>
          <a:solidFill>
            <a:srgbClr val="F2F6FA"/>
          </a:solidFill>
          <a:ln w="9525">
            <a:solidFill>
              <a:srgbClr val="D5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2960" y="3913632"/>
            <a:ext cx="64008" cy="713232"/>
          </a:xfrm>
          <a:prstGeom prst="rect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24128" y="4087368"/>
            <a:ext cx="365760" cy="365760"/>
          </a:xfrm>
          <a:prstGeom prst="ellipse">
            <a:avLst/>
          </a:prstGeom>
          <a:solidFill>
            <a:srgbClr val="0E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24128" y="4128516"/>
            <a:ext cx="3657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72768" y="3995928"/>
            <a:ext cx="9601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E243D"/>
                </a:solidFill>
                <a:latin typeface="Arial"/>
              </a:rPr>
              <a:t>Hardware BoM &amp; Investment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72768" y="4297680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A6B7C"/>
                </a:solidFill>
                <a:latin typeface="Arial"/>
              </a:rPr>
              <a:t>≈ $15–19k per station, zero software license fees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" y="4700016"/>
            <a:ext cx="10515600" cy="713232"/>
          </a:xfrm>
          <a:prstGeom prst="rect">
            <a:avLst/>
          </a:prstGeom>
          <a:solidFill>
            <a:srgbClr val="F2F6FA"/>
          </a:solidFill>
          <a:ln w="9525">
            <a:solidFill>
              <a:srgbClr val="D5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22960" y="4700016"/>
            <a:ext cx="64008" cy="713232"/>
          </a:xfrm>
          <a:prstGeom prst="rect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24128" y="4873752"/>
            <a:ext cx="365760" cy="365760"/>
          </a:xfrm>
          <a:prstGeom prst="ellipse">
            <a:avLst/>
          </a:prstGeom>
          <a:solidFill>
            <a:srgbClr val="0E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24128" y="4914900"/>
            <a:ext cx="3657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72768" y="4782312"/>
            <a:ext cx="9601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E243D"/>
                </a:solidFill>
                <a:latin typeface="Arial"/>
              </a:rPr>
              <a:t>MTK vs. Traditional Manual Testing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72768" y="5084064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A6B7C"/>
                </a:solidFill>
                <a:latin typeface="Arial"/>
              </a:rPr>
              <a:t>Coverage, precision and new capabilities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2960" y="5486400"/>
            <a:ext cx="10515600" cy="713232"/>
          </a:xfrm>
          <a:prstGeom prst="rect">
            <a:avLst/>
          </a:prstGeom>
          <a:solidFill>
            <a:srgbClr val="F2F6FA"/>
          </a:solidFill>
          <a:ln w="9525">
            <a:solidFill>
              <a:srgbClr val="D5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22960" y="5486400"/>
            <a:ext cx="64008" cy="713232"/>
          </a:xfrm>
          <a:prstGeom prst="rect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24128" y="5660136"/>
            <a:ext cx="365760" cy="365760"/>
          </a:xfrm>
          <a:prstGeom prst="ellipse">
            <a:avLst/>
          </a:prstGeom>
          <a:solidFill>
            <a:srgbClr val="0E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24128" y="5701284"/>
            <a:ext cx="3657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72768" y="5568696"/>
            <a:ext cx="9601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E243D"/>
                </a:solidFill>
                <a:latin typeface="Arial"/>
              </a:rPr>
              <a:t>Summary &amp; Ask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72768" y="5870448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A6B7C"/>
                </a:solidFill>
                <a:latin typeface="Arial"/>
              </a:rPr>
              <a:t>What we need to move to Phase 3 and production rollout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9184"/>
            <a:ext cx="108813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E243D"/>
                </a:solidFill>
                <a:latin typeface="Arial"/>
              </a:rPr>
              <a:t>What is MTK GUI?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932688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A6B7C"/>
                </a:solidFill>
                <a:latin typeface="Arial"/>
              </a:rPr>
              <a:t>One PC + one rack = the complete test station. MTK software runs it all — on every NXP commercial board.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1183112" cy="17780"/>
          </a:xfrm>
          <a:prstGeom prst="rect">
            <a:avLst/>
          </a:prstGeom>
          <a:solidFill>
            <a:srgbClr val="D5D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rack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417320"/>
            <a:ext cx="5430805" cy="436168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35040" y="1417320"/>
            <a:ext cx="5742432" cy="658368"/>
          </a:xfrm>
          <a:prstGeom prst="rect">
            <a:avLst/>
          </a:prstGeom>
          <a:solidFill>
            <a:srgbClr val="F2F6FA"/>
          </a:solidFill>
          <a:ln w="9525">
            <a:solidFill>
              <a:srgbClr val="D5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35040" y="1417320"/>
            <a:ext cx="64008" cy="658368"/>
          </a:xfrm>
          <a:prstGeom prst="rect">
            <a:avLst/>
          </a:prstGeom>
          <a:solidFill>
            <a:srgbClr val="0E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99632" y="1463040"/>
            <a:ext cx="546811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E243D"/>
                </a:solidFill>
                <a:latin typeface="Arial"/>
              </a:rPr>
              <a:t>1 · Host PC — the brain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99632" y="1719072"/>
            <a:ext cx="546811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1B2B3A"/>
                </a:solidFill>
                <a:latin typeface="Arial"/>
              </a:rPr>
              <a:t>One computer runs the MTK software, drives every instrument and produces the reports.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2157984"/>
            <a:ext cx="5742432" cy="658368"/>
          </a:xfrm>
          <a:prstGeom prst="rect">
            <a:avLst/>
          </a:prstGeom>
          <a:solidFill>
            <a:srgbClr val="F2F6FA"/>
          </a:solidFill>
          <a:ln w="9525">
            <a:solidFill>
              <a:srgbClr val="D5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35040" y="2157984"/>
            <a:ext cx="64008" cy="658368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99632" y="2203704"/>
            <a:ext cx="546811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E243D"/>
                </a:solidFill>
                <a:latin typeface="Arial"/>
              </a:rPr>
              <a:t>2 · Instruments — measure &amp; power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9632" y="2459736"/>
            <a:ext cx="546811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1B2B3A"/>
                </a:solidFill>
                <a:latin typeface="Arial"/>
              </a:rPr>
              <a:t>Digital multimeter, waveform capture and a programmable power supply for the board.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2898648"/>
            <a:ext cx="5742432" cy="658368"/>
          </a:xfrm>
          <a:prstGeom prst="rect">
            <a:avLst/>
          </a:prstGeom>
          <a:solidFill>
            <a:srgbClr val="F2F6FA"/>
          </a:solidFill>
          <a:ln w="9525">
            <a:solidFill>
              <a:srgbClr val="D5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35040" y="2898648"/>
            <a:ext cx="64008" cy="658368"/>
          </a:xfrm>
          <a:prstGeom prst="rect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99632" y="2944368"/>
            <a:ext cx="546811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E243D"/>
                </a:solidFill>
                <a:latin typeface="Arial"/>
              </a:rPr>
              <a:t>3 · Test peripherals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99632" y="3200400"/>
            <a:ext cx="546811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1B2B3A"/>
                </a:solidFill>
                <a:latin typeface="Arial"/>
              </a:rPr>
              <a:t>Wi-Fi router, Bluetooth, display, camera — used to verify the product’s real functions.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35040" y="3639312"/>
            <a:ext cx="5742432" cy="658368"/>
          </a:xfrm>
          <a:prstGeom prst="rect">
            <a:avLst/>
          </a:prstGeom>
          <a:solidFill>
            <a:srgbClr val="F2F6FA"/>
          </a:solidFill>
          <a:ln w="9525">
            <a:solidFill>
              <a:srgbClr val="D5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35040" y="3639312"/>
            <a:ext cx="64008" cy="658368"/>
          </a:xfrm>
          <a:prstGeom prst="rect">
            <a:avLst/>
          </a:prstGeom>
          <a:solidFill>
            <a:srgbClr val="E89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99632" y="3685032"/>
            <a:ext cx="546811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E243D"/>
                </a:solidFill>
                <a:latin typeface="Arial"/>
              </a:rPr>
              <a:t>4 · Flash / debug probes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99632" y="3941064"/>
            <a:ext cx="546811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1B2B3A"/>
                </a:solidFill>
                <a:latin typeface="Arial"/>
              </a:rPr>
              <a:t>Load the firmware into the board (factory-test image, then shipping image).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35040" y="4379976"/>
            <a:ext cx="5742432" cy="658368"/>
          </a:xfrm>
          <a:prstGeom prst="rect">
            <a:avLst/>
          </a:prstGeom>
          <a:solidFill>
            <a:srgbClr val="F2F6FA"/>
          </a:solidFill>
          <a:ln w="9525">
            <a:solidFill>
              <a:srgbClr val="D5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035040" y="4379976"/>
            <a:ext cx="64008" cy="658368"/>
          </a:xfrm>
          <a:prstGeom prst="rect">
            <a:avLst/>
          </a:prstGeom>
          <a:solidFill>
            <a:srgbClr val="2E9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99632" y="4425696"/>
            <a:ext cx="546811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E243D"/>
                </a:solidFill>
                <a:latin typeface="Arial"/>
              </a:rPr>
              <a:t>5 · Test fixture (the bed)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99632" y="4681728"/>
            <a:ext cx="546811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1B2B3A"/>
                </a:solidFill>
                <a:latin typeface="Arial"/>
              </a:rPr>
              <a:t>Holds the board; 128 spring-loaded pins touch every test point automatically — no manual probing.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35040" y="5120640"/>
            <a:ext cx="5742432" cy="658368"/>
          </a:xfrm>
          <a:prstGeom prst="rect">
            <a:avLst/>
          </a:prstGeom>
          <a:solidFill>
            <a:srgbClr val="F2F6FA"/>
          </a:solidFill>
          <a:ln w="9525">
            <a:solidFill>
              <a:srgbClr val="D5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035040" y="5120640"/>
            <a:ext cx="64008" cy="658368"/>
          </a:xfrm>
          <a:prstGeom prst="rect">
            <a:avLst/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99632" y="5166360"/>
            <a:ext cx="546811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E243D"/>
                </a:solidFill>
                <a:latin typeface="Arial"/>
              </a:rPr>
              <a:t>6 · DUT — the product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99632" y="5422392"/>
            <a:ext cx="546811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1B2B3A"/>
                </a:solidFill>
                <a:latin typeface="Arial"/>
              </a:rPr>
              <a:t>The board under test, connected to the whole rack through the fixture.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5897880"/>
            <a:ext cx="2167128" cy="384048"/>
          </a:xfrm>
          <a:prstGeom prst="rect">
            <a:avLst/>
          </a:prstGeom>
          <a:solidFill>
            <a:srgbClr val="E6F7F4"/>
          </a:solidFill>
          <a:ln w="12700">
            <a:solidFill>
              <a:srgbClr val="00C2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57784" y="5943600"/>
            <a:ext cx="2057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0E243D"/>
                </a:solidFill>
                <a:latin typeface="Arial"/>
              </a:rPr>
              <a:t>Desktop app — zero setup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52344" y="5897880"/>
            <a:ext cx="2167128" cy="384048"/>
          </a:xfrm>
          <a:prstGeom prst="rect">
            <a:avLst/>
          </a:prstGeom>
          <a:solidFill>
            <a:srgbClr val="E6F7F4"/>
          </a:solidFill>
          <a:ln w="12700">
            <a:solidFill>
              <a:srgbClr val="00C2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807208" y="5943600"/>
            <a:ext cx="2057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0E243D"/>
                </a:solidFill>
                <a:latin typeface="Arial"/>
              </a:rPr>
              <a:t>Lightweight &amp; universal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01768" y="5897880"/>
            <a:ext cx="2167128" cy="384048"/>
          </a:xfrm>
          <a:prstGeom prst="rect">
            <a:avLst/>
          </a:prstGeom>
          <a:solidFill>
            <a:srgbClr val="E6F7F4"/>
          </a:solidFill>
          <a:ln w="12700">
            <a:solidFill>
              <a:srgbClr val="00C2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56632" y="5943600"/>
            <a:ext cx="2057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0E243D"/>
                </a:solidFill>
                <a:latin typeface="Arial"/>
              </a:rPr>
              <a:t>One YAML per project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251192" y="5897880"/>
            <a:ext cx="2167128" cy="384048"/>
          </a:xfrm>
          <a:prstGeom prst="rect">
            <a:avLst/>
          </a:prstGeom>
          <a:solidFill>
            <a:srgbClr val="E6F7F4"/>
          </a:solidFill>
          <a:ln w="12700">
            <a:solidFill>
              <a:srgbClr val="00C2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06056" y="5943600"/>
            <a:ext cx="2057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0E243D"/>
                </a:solidFill>
                <a:latin typeface="Arial"/>
              </a:rPr>
              <a:t>Friendly UI — quick to learn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500616" y="5897880"/>
            <a:ext cx="2167128" cy="384048"/>
          </a:xfrm>
          <a:prstGeom prst="rect">
            <a:avLst/>
          </a:prstGeom>
          <a:solidFill>
            <a:srgbClr val="E6F7F4"/>
          </a:solidFill>
          <a:ln w="12700">
            <a:solidFill>
              <a:srgbClr val="00C2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555480" y="5943600"/>
            <a:ext cx="2057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0E243D"/>
                </a:solidFill>
                <a:latin typeface="Arial"/>
              </a:rPr>
              <a:t>Supervisor + Operator roles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11480" y="6382512"/>
            <a:ext cx="11365992" cy="365760"/>
          </a:xfrm>
          <a:prstGeom prst="rect">
            <a:avLst/>
          </a:prstGeom>
          <a:solidFill>
            <a:srgbClr val="E6F7F4"/>
          </a:solidFill>
          <a:ln w="12700">
            <a:solidFill>
              <a:srgbClr val="00C2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94360" y="6419088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243D"/>
                </a:solidFill>
                <a:latin typeface="Arial"/>
              </a:rPr>
              <a:t>Takeaway: one operator, one click — MTK orchestrates the entire rack from a single PC.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9184"/>
            <a:ext cx="108813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E243D"/>
                </a:solidFill>
                <a:latin typeface="Arial"/>
              </a:rPr>
              <a:t>MTK GUI Main Interface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932688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A6B7C"/>
                </a:solidFill>
                <a:latin typeface="Arial"/>
              </a:rPr>
              <a:t>One window runs the whole station — shown here in the Ocean theme (virtual demo run).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1183112" cy="17780"/>
          </a:xfrm>
          <a:prstGeom prst="rect">
            <a:avLst/>
          </a:prstGeom>
          <a:solidFill>
            <a:srgbClr val="D5D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ain_window_oc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463040"/>
            <a:ext cx="7863840" cy="4681728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2176272" y="2066543"/>
            <a:ext cx="256032" cy="256032"/>
          </a:xfrm>
          <a:prstGeom prst="ellipse">
            <a:avLst/>
          </a:prstGeom>
          <a:solidFill>
            <a:srgbClr val="0E243D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76272" y="2089403"/>
            <a:ext cx="256032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Oval 8"/>
          <p:cNvSpPr/>
          <p:nvPr/>
        </p:nvSpPr>
        <p:spPr>
          <a:xfrm>
            <a:off x="5861304" y="1581912"/>
            <a:ext cx="256032" cy="256032"/>
          </a:xfrm>
          <a:prstGeom prst="ellipse">
            <a:avLst/>
          </a:prstGeom>
          <a:solidFill>
            <a:srgbClr val="0E243D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61304" y="1604772"/>
            <a:ext cx="256032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1" name="Oval 10"/>
          <p:cNvSpPr/>
          <p:nvPr/>
        </p:nvSpPr>
        <p:spPr>
          <a:xfrm>
            <a:off x="2249424" y="2871215"/>
            <a:ext cx="256032" cy="256032"/>
          </a:xfrm>
          <a:prstGeom prst="ellipse">
            <a:avLst/>
          </a:prstGeom>
          <a:solidFill>
            <a:srgbClr val="0E243D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49424" y="2894075"/>
            <a:ext cx="256032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3" name="Oval 12"/>
          <p:cNvSpPr/>
          <p:nvPr/>
        </p:nvSpPr>
        <p:spPr>
          <a:xfrm>
            <a:off x="1106424" y="3355848"/>
            <a:ext cx="256032" cy="256032"/>
          </a:xfrm>
          <a:prstGeom prst="ellipse">
            <a:avLst/>
          </a:prstGeom>
          <a:solidFill>
            <a:srgbClr val="0E243D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6424" y="3378708"/>
            <a:ext cx="256032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5" name="Oval 14"/>
          <p:cNvSpPr/>
          <p:nvPr/>
        </p:nvSpPr>
        <p:spPr>
          <a:xfrm>
            <a:off x="4489704" y="3355848"/>
            <a:ext cx="256032" cy="256032"/>
          </a:xfrm>
          <a:prstGeom prst="ellipse">
            <a:avLst/>
          </a:prstGeom>
          <a:solidFill>
            <a:srgbClr val="0E243D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9704" y="3378708"/>
            <a:ext cx="256032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7" name="Oval 16"/>
          <p:cNvSpPr/>
          <p:nvPr/>
        </p:nvSpPr>
        <p:spPr>
          <a:xfrm>
            <a:off x="896112" y="4672584"/>
            <a:ext cx="256032" cy="256032"/>
          </a:xfrm>
          <a:prstGeom prst="ellipse">
            <a:avLst/>
          </a:prstGeom>
          <a:solidFill>
            <a:srgbClr val="0E243D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4695444"/>
            <a:ext cx="256032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9" name="Oval 18"/>
          <p:cNvSpPr/>
          <p:nvPr/>
        </p:nvSpPr>
        <p:spPr>
          <a:xfrm>
            <a:off x="4133088" y="5751576"/>
            <a:ext cx="256032" cy="256032"/>
          </a:xfrm>
          <a:prstGeom prst="ellipse">
            <a:avLst/>
          </a:prstGeom>
          <a:solidFill>
            <a:srgbClr val="0E243D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33088" y="5774436"/>
            <a:ext cx="256032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458200" y="1463040"/>
            <a:ext cx="3246120" cy="621792"/>
          </a:xfrm>
          <a:prstGeom prst="rect">
            <a:avLst/>
          </a:prstGeom>
          <a:solidFill>
            <a:srgbClr val="F2F6FA"/>
          </a:solidFill>
          <a:ln w="9525">
            <a:solidFill>
              <a:srgbClr val="D5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458200" y="1463040"/>
            <a:ext cx="64008" cy="621792"/>
          </a:xfrm>
          <a:prstGeom prst="rect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22792" y="1508760"/>
            <a:ext cx="2971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E243D"/>
                </a:solidFill>
                <a:latin typeface="Arial"/>
              </a:rPr>
              <a:t>1 · Product Info &amp; Run Control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22792" y="1764792"/>
            <a:ext cx="2971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1B2B3A"/>
                </a:solidFill>
                <a:latin typeface="Arial"/>
              </a:rPr>
              <a:t>Part #, SN, Run / Stop, long-run &amp; interval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458200" y="2130552"/>
            <a:ext cx="3246120" cy="621792"/>
          </a:xfrm>
          <a:prstGeom prst="rect">
            <a:avLst/>
          </a:prstGeom>
          <a:solidFill>
            <a:srgbClr val="F2F6FA"/>
          </a:solidFill>
          <a:ln w="9525">
            <a:solidFill>
              <a:srgbClr val="D5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458200" y="2130552"/>
            <a:ext cx="64008" cy="621792"/>
          </a:xfrm>
          <a:prstGeom prst="rect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22792" y="2176272"/>
            <a:ext cx="2971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E243D"/>
                </a:solidFill>
                <a:latin typeface="Arial"/>
              </a:rPr>
              <a:t>2 · Overall Flow &amp; Result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22792" y="2432304"/>
            <a:ext cx="2971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1B2B3A"/>
                </a:solidFill>
                <a:latin typeface="Arial"/>
              </a:rPr>
              <a:t>Live PASS / FAIL verdict per stage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458200" y="2798064"/>
            <a:ext cx="3246120" cy="621792"/>
          </a:xfrm>
          <a:prstGeom prst="rect">
            <a:avLst/>
          </a:prstGeom>
          <a:solidFill>
            <a:srgbClr val="F2F6FA"/>
          </a:solidFill>
          <a:ln w="9525">
            <a:solidFill>
              <a:srgbClr val="D5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458200" y="2798064"/>
            <a:ext cx="64008" cy="621792"/>
          </a:xfrm>
          <a:prstGeom prst="rect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22792" y="2843784"/>
            <a:ext cx="2971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E243D"/>
                </a:solidFill>
                <a:latin typeface="Arial"/>
              </a:rPr>
              <a:t>3 · Workflow / Equipment / Yaml Build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22792" y="3099816"/>
            <a:ext cx="2971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1B2B3A"/>
                </a:solidFill>
                <a:latin typeface="Arial"/>
              </a:rPr>
              <a:t>Test development &amp; execution in one tool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458200" y="3465576"/>
            <a:ext cx="3246120" cy="621792"/>
          </a:xfrm>
          <a:prstGeom prst="rect">
            <a:avLst/>
          </a:prstGeom>
          <a:solidFill>
            <a:srgbClr val="F2F6FA"/>
          </a:solidFill>
          <a:ln w="9525">
            <a:solidFill>
              <a:srgbClr val="D5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458200" y="3465576"/>
            <a:ext cx="64008" cy="621792"/>
          </a:xfrm>
          <a:prstGeom prst="rect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22792" y="3511296"/>
            <a:ext cx="2971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E243D"/>
                </a:solidFill>
                <a:latin typeface="Arial"/>
              </a:rPr>
              <a:t>4 · ICT / FCT Test Cases &amp; Consoles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22792" y="3767328"/>
            <a:ext cx="2971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1B2B3A"/>
                </a:solidFill>
                <a:latin typeface="Arial"/>
              </a:rPr>
              <a:t>Measured vs. limits; serial / SSH consoles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458200" y="4133088"/>
            <a:ext cx="3246120" cy="621792"/>
          </a:xfrm>
          <a:prstGeom prst="rect">
            <a:avLst/>
          </a:prstGeom>
          <a:solidFill>
            <a:srgbClr val="F2F6FA"/>
          </a:solidFill>
          <a:ln w="9525">
            <a:solidFill>
              <a:srgbClr val="D5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458200" y="4133088"/>
            <a:ext cx="64008" cy="621792"/>
          </a:xfrm>
          <a:prstGeom prst="rect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22792" y="4178808"/>
            <a:ext cx="2971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E243D"/>
                </a:solidFill>
                <a:latin typeface="Arial"/>
              </a:rPr>
              <a:t>5 · Power Rails Waveform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22792" y="4434840"/>
            <a:ext cx="2971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1B2B3A"/>
                </a:solidFill>
                <a:latin typeface="Arial"/>
              </a:rPr>
              <a:t>12-rail ms capture, auto-graded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58200" y="4800600"/>
            <a:ext cx="3246120" cy="621792"/>
          </a:xfrm>
          <a:prstGeom prst="rect">
            <a:avLst/>
          </a:prstGeom>
          <a:solidFill>
            <a:srgbClr val="F2F6FA"/>
          </a:solidFill>
          <a:ln w="9525">
            <a:solidFill>
              <a:srgbClr val="D5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458200" y="4800600"/>
            <a:ext cx="64008" cy="621792"/>
          </a:xfrm>
          <a:prstGeom prst="rect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22792" y="4846320"/>
            <a:ext cx="2971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E243D"/>
                </a:solidFill>
                <a:latin typeface="Arial"/>
              </a:rPr>
              <a:t>6 · Event Log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622792" y="5102352"/>
            <a:ext cx="2971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1B2B3A"/>
                </a:solidFill>
                <a:latin typeface="Arial"/>
              </a:rPr>
              <a:t>ms timestamps, colored verdicts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58200" y="5468112"/>
            <a:ext cx="3246120" cy="621792"/>
          </a:xfrm>
          <a:prstGeom prst="rect">
            <a:avLst/>
          </a:prstGeom>
          <a:solidFill>
            <a:srgbClr val="F2F6FA"/>
          </a:solidFill>
          <a:ln w="9525">
            <a:solidFill>
              <a:srgbClr val="D5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458200" y="5468112"/>
            <a:ext cx="64008" cy="621792"/>
          </a:xfrm>
          <a:prstGeom prst="rect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622792" y="5513832"/>
            <a:ext cx="2971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E243D"/>
                </a:solidFill>
                <a:latin typeface="Arial"/>
              </a:rPr>
              <a:t>7 · Status Bar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22792" y="5769864"/>
            <a:ext cx="2971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1B2B3A"/>
                </a:solidFill>
                <a:latin typeface="Arial"/>
              </a:rPr>
              <a:t>Version, role / mode, progress, LEDs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9184"/>
            <a:ext cx="108813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E243D"/>
                </a:solidFill>
                <a:latin typeface="Arial"/>
              </a:rPr>
              <a:t>Yaml Build — From Design Files to a Test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932688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A6B7C"/>
                </a:solidFill>
                <a:latin typeface="Arial"/>
              </a:rPr>
              <a:t>Five guided steps turn design inputs into a runnable ICT + FCT project — no manual data entry.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1183112" cy="17780"/>
          </a:xfrm>
          <a:prstGeom prst="rect">
            <a:avLst/>
          </a:prstGeom>
          <a:solidFill>
            <a:srgbClr val="D5D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yamlbuild_oc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463040"/>
            <a:ext cx="7863840" cy="4681728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557784" y="2999232"/>
            <a:ext cx="256032" cy="256032"/>
          </a:xfrm>
          <a:prstGeom prst="ellipse">
            <a:avLst/>
          </a:prstGeom>
          <a:solidFill>
            <a:srgbClr val="0E243D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57784" y="3022091"/>
            <a:ext cx="256032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Oval 8"/>
          <p:cNvSpPr/>
          <p:nvPr/>
        </p:nvSpPr>
        <p:spPr>
          <a:xfrm>
            <a:off x="1289304" y="2999232"/>
            <a:ext cx="256032" cy="256032"/>
          </a:xfrm>
          <a:prstGeom prst="ellipse">
            <a:avLst/>
          </a:prstGeom>
          <a:solidFill>
            <a:srgbClr val="0E243D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9304" y="3022091"/>
            <a:ext cx="256032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1" name="Oval 10"/>
          <p:cNvSpPr/>
          <p:nvPr/>
        </p:nvSpPr>
        <p:spPr>
          <a:xfrm>
            <a:off x="2020824" y="2999232"/>
            <a:ext cx="256032" cy="256032"/>
          </a:xfrm>
          <a:prstGeom prst="ellipse">
            <a:avLst/>
          </a:prstGeom>
          <a:solidFill>
            <a:srgbClr val="0E243D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20824" y="3022091"/>
            <a:ext cx="256032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3" name="Oval 12"/>
          <p:cNvSpPr/>
          <p:nvPr/>
        </p:nvSpPr>
        <p:spPr>
          <a:xfrm>
            <a:off x="3026664" y="2999232"/>
            <a:ext cx="256032" cy="256032"/>
          </a:xfrm>
          <a:prstGeom prst="ellipse">
            <a:avLst/>
          </a:prstGeom>
          <a:solidFill>
            <a:srgbClr val="0E243D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26664" y="3022091"/>
            <a:ext cx="256032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5" name="Oval 14"/>
          <p:cNvSpPr/>
          <p:nvPr/>
        </p:nvSpPr>
        <p:spPr>
          <a:xfrm>
            <a:off x="4672584" y="3300984"/>
            <a:ext cx="256032" cy="256032"/>
          </a:xfrm>
          <a:prstGeom prst="ellipse">
            <a:avLst/>
          </a:prstGeom>
          <a:solidFill>
            <a:srgbClr val="0E243D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72584" y="3323844"/>
            <a:ext cx="256032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58200" y="1463040"/>
            <a:ext cx="3246120" cy="841248"/>
          </a:xfrm>
          <a:prstGeom prst="rect">
            <a:avLst/>
          </a:prstGeom>
          <a:solidFill>
            <a:srgbClr val="F2F6FA"/>
          </a:solidFill>
          <a:ln w="9525">
            <a:solidFill>
              <a:srgbClr val="D5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458200" y="1463040"/>
            <a:ext cx="64008" cy="841248"/>
          </a:xfrm>
          <a:prstGeom prst="rect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22792" y="1508760"/>
            <a:ext cx="2971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E243D"/>
                </a:solidFill>
                <a:latin typeface="Arial"/>
              </a:rPr>
              <a:t>1 · Design Input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22792" y="1764792"/>
            <a:ext cx="297180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1B2B3A"/>
                </a:solidFill>
                <a:latin typeface="Arial"/>
              </a:rPr>
              <a:t>Point to netlist / SPF / PDF design files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458200" y="2414016"/>
            <a:ext cx="3246120" cy="841248"/>
          </a:xfrm>
          <a:prstGeom prst="rect">
            <a:avLst/>
          </a:prstGeom>
          <a:solidFill>
            <a:srgbClr val="F2F6FA"/>
          </a:solidFill>
          <a:ln w="9525">
            <a:solidFill>
              <a:srgbClr val="D5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458200" y="2414016"/>
            <a:ext cx="64008" cy="841248"/>
          </a:xfrm>
          <a:prstGeom prst="rect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22792" y="2459736"/>
            <a:ext cx="2971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E243D"/>
                </a:solidFill>
                <a:latin typeface="Arial"/>
              </a:rPr>
              <a:t>2 · Parse Nets for ICT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22792" y="2715768"/>
            <a:ext cx="297180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1B2B3A"/>
                </a:solidFill>
                <a:latin typeface="Arial"/>
              </a:rPr>
              <a:t>Power nets &amp; test points extracted automatically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458200" y="3364992"/>
            <a:ext cx="3246120" cy="841248"/>
          </a:xfrm>
          <a:prstGeom prst="rect">
            <a:avLst/>
          </a:prstGeom>
          <a:solidFill>
            <a:srgbClr val="F2F6FA"/>
          </a:solidFill>
          <a:ln w="9525">
            <a:solidFill>
              <a:srgbClr val="D5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458200" y="3364992"/>
            <a:ext cx="64008" cy="841248"/>
          </a:xfrm>
          <a:prstGeom prst="rect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22792" y="3410712"/>
            <a:ext cx="2971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E243D"/>
                </a:solidFill>
                <a:latin typeface="Arial"/>
              </a:rPr>
              <a:t>3 · Channel Allocation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22792" y="3666744"/>
            <a:ext cx="297180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1B2B3A"/>
                </a:solidFill>
                <a:latin typeface="Arial"/>
              </a:rPr>
              <a:t>Nets auto-mapped to instrument channels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458200" y="4315968"/>
            <a:ext cx="3246120" cy="841248"/>
          </a:xfrm>
          <a:prstGeom prst="rect">
            <a:avLst/>
          </a:prstGeom>
          <a:solidFill>
            <a:srgbClr val="F2F6FA"/>
          </a:solidFill>
          <a:ln w="9525">
            <a:solidFill>
              <a:srgbClr val="D5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458200" y="4315968"/>
            <a:ext cx="64008" cy="841248"/>
          </a:xfrm>
          <a:prstGeom prst="rect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22792" y="4361688"/>
            <a:ext cx="2971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E243D"/>
                </a:solidFill>
                <a:latin typeface="Arial"/>
              </a:rPr>
              <a:t>4 / 5 · ICT &amp; FCT Sequences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22792" y="4617720"/>
            <a:ext cx="297180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1B2B3A"/>
                </a:solidFill>
                <a:latin typeface="Arial"/>
              </a:rPr>
              <a:t>Test workflows generated, ready to run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458200" y="5266944"/>
            <a:ext cx="3246120" cy="841248"/>
          </a:xfrm>
          <a:prstGeom prst="rect">
            <a:avLst/>
          </a:prstGeom>
          <a:solidFill>
            <a:srgbClr val="F2F6FA"/>
          </a:solidFill>
          <a:ln w="9525">
            <a:solidFill>
              <a:srgbClr val="D5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458200" y="5266944"/>
            <a:ext cx="64008" cy="841248"/>
          </a:xfrm>
          <a:prstGeom prst="rect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22792" y="5312664"/>
            <a:ext cx="2971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E243D"/>
                </a:solidFill>
                <a:latin typeface="Arial"/>
              </a:rPr>
              <a:t>Live YAML Preview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22792" y="5568696"/>
            <a:ext cx="297180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1B2B3A"/>
                </a:solidFill>
                <a:latin typeface="Arial"/>
              </a:rPr>
              <a:t>Two-way sync with the diagram; Excel import / export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9184"/>
            <a:ext cx="108813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E243D"/>
                </a:solidFill>
                <a:latin typeface="Arial"/>
              </a:rPr>
              <a:t>Why MTK?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932688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A6B7C"/>
                </a:solidFill>
                <a:latin typeface="Arial"/>
              </a:rPr>
              <a:t>Same lab instruments — three very different ways to run them.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1183112" cy="17780"/>
          </a:xfrm>
          <a:prstGeom prst="rect">
            <a:avLst/>
          </a:prstGeom>
          <a:solidFill>
            <a:srgbClr val="D5D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463040"/>
          <a:ext cx="11183112" cy="3749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2834640"/>
                <a:gridCol w="3017520"/>
                <a:gridCol w="3410712"/>
              </a:tblGrid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91440" marR="73152" marT="36576" marB="36576" anchor="ctr">
                    <a:solidFill>
                      <a:srgbClr val="0E24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Manual testing (today)</a:t>
                      </a:r>
                    </a:p>
                  </a:txBody>
                  <a:tcPr marL="91440" marR="73152" marT="36576" marB="36576" anchor="ctr">
                    <a:solidFill>
                      <a:srgbClr val="0E24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LabVIEW / TestStand + PXI</a:t>
                      </a:r>
                    </a:p>
                  </a:txBody>
                  <a:tcPr marL="91440" marR="73152" marT="36576" marB="36576" anchor="ctr">
                    <a:solidFill>
                      <a:srgbClr val="0E24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E243D"/>
                          </a:solidFill>
                          <a:latin typeface="Arial"/>
                        </a:rPr>
                        <a:t>MTK Common Platform</a:t>
                      </a:r>
                    </a:p>
                  </a:txBody>
                  <a:tcPr marL="91440" marR="73152" marT="36576" marB="36576" anchor="ctr">
                    <a:solidFill>
                      <a:srgbClr val="00C2A8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E243D"/>
                          </a:solidFill>
                          <a:latin typeface="Arial"/>
                        </a:rPr>
                        <a:t>Test coverage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A6B7C"/>
                          </a:solidFill>
                          <a:latin typeface="Arial"/>
                        </a:rPr>
                        <a:t>Depends on the operator — steps get skipped under pressure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A6B7C"/>
                          </a:solidFill>
                          <a:latin typeface="Arial"/>
                        </a:rPr>
                        <a:t>High, but every new product needs specialist programming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B2B3A"/>
                          </a:solidFill>
                          <a:latin typeface="Arial"/>
                        </a:rPr>
                        <a:t>Full flow built in: ICT → flash → FCT → OOBE, identical on every unit</a:t>
                      </a:r>
                    </a:p>
                  </a:txBody>
                  <a:tcPr marL="91440" marR="73152" marT="36576" marB="36576" anchor="ctr">
                    <a:solidFill>
                      <a:srgbClr val="E6F7F4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E243D"/>
                          </a:solidFill>
                          <a:latin typeface="Arial"/>
                        </a:rPr>
                        <a:t>Speed &amp; efficiency</a:t>
                      </a:r>
                    </a:p>
                  </a:txBody>
                  <a:tcPr marL="91440" marR="73152" marT="36576" marB="36576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A6B7C"/>
                          </a:solidFill>
                          <a:latin typeface="Arial"/>
                        </a:rPr>
                        <a:t>Slow — one operator fully occupied per board</a:t>
                      </a:r>
                    </a:p>
                  </a:txBody>
                  <a:tcPr marL="91440" marR="73152" marT="36576" marB="36576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A6B7C"/>
                          </a:solidFill>
                          <a:latin typeface="Arial"/>
                        </a:rPr>
                        <a:t>Fast, but long (expensive) integration per product</a:t>
                      </a:r>
                    </a:p>
                  </a:txBody>
                  <a:tcPr marL="91440" marR="73152" marT="36576" marB="36576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B2B3A"/>
                          </a:solidFill>
                          <a:latin typeface="Arial"/>
                        </a:rPr>
                        <a:t>One click — fully automated: drives instruments, peripherals &amp; fixture, talks to the DUT console; timing precise to the millisecond</a:t>
                      </a:r>
                    </a:p>
                  </a:txBody>
                  <a:tcPr marL="91440" marR="73152" marT="36576" marB="36576" anchor="ctr">
                    <a:solidFill>
                      <a:srgbClr val="E6F7F4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E243D"/>
                          </a:solidFill>
                          <a:latin typeface="Arial"/>
                        </a:rPr>
                        <a:t>Quality assurance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A6B7C"/>
                          </a:solidFill>
                          <a:latin typeface="Arial"/>
                        </a:rPr>
                        <a:t>Human variance; mistakes hard to trace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A6B7C"/>
                          </a:solidFill>
                          <a:latin typeface="Arial"/>
                        </a:rPr>
                        <a:t>Repeatable, if configured strictly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B2B3A"/>
                          </a:solidFill>
                          <a:latin typeface="Arial"/>
                        </a:rPr>
                        <a:t>Same criteria for every unit; ATE fixture means the operator never hunts for test points or setup — recording &amp; comparison are automatic</a:t>
                      </a:r>
                    </a:p>
                  </a:txBody>
                  <a:tcPr marL="91440" marR="73152" marT="36576" marB="36576" anchor="ctr">
                    <a:solidFill>
                      <a:srgbClr val="E6F7F4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E243D"/>
                          </a:solidFill>
                          <a:latin typeface="Arial"/>
                        </a:rPr>
                        <a:t>Reporting</a:t>
                      </a:r>
                    </a:p>
                  </a:txBody>
                  <a:tcPr marL="91440" marR="73152" marT="36576" marB="36576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A6B7C"/>
                          </a:solidFill>
                          <a:latin typeface="Arial"/>
                        </a:rPr>
                        <a:t>Hand-written Excel — slow and error-prone</a:t>
                      </a:r>
                    </a:p>
                  </a:txBody>
                  <a:tcPr marL="91440" marR="73152" marT="36576" marB="36576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A6B7C"/>
                          </a:solidFill>
                          <a:latin typeface="Arial"/>
                        </a:rPr>
                        <a:t>Possible, extra setup per product</a:t>
                      </a:r>
                    </a:p>
                  </a:txBody>
                  <a:tcPr marL="91440" marR="73152" marT="36576" marB="36576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B2B3A"/>
                          </a:solidFill>
                          <a:latin typeface="Arial"/>
                        </a:rPr>
                        <a:t>Professional CSV / HTML / PDF reports; test data auto-uploaded to SharePoint cloud — zero extra steps, MES-ready</a:t>
                      </a:r>
                    </a:p>
                  </a:txBody>
                  <a:tcPr marL="91440" marR="73152" marT="36576" marB="36576" anchor="ctr">
                    <a:solidFill>
                      <a:srgbClr val="E6F7F4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E243D"/>
                          </a:solidFill>
                          <a:latin typeface="Arial"/>
                        </a:rPr>
                        <a:t>Cost of ownership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A6B7C"/>
                          </a:solidFill>
                          <a:latin typeface="Arial"/>
                        </a:rPr>
                        <a:t>Cheap tools, expensive labor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A6B7C"/>
                          </a:solidFill>
                          <a:latin typeface="Arial"/>
                        </a:rPr>
                        <a:t>Software licenses + PXI chassis — high $ per station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B2B3A"/>
                          </a:solidFill>
                          <a:latin typeface="Arial"/>
                        </a:rPr>
                        <a:t>No license fees; off-the-shelf USB/LAN instruments</a:t>
                      </a:r>
                    </a:p>
                  </a:txBody>
                  <a:tcPr marL="91440" marR="73152" marT="36576" marB="36576" anchor="ctr">
                    <a:solidFill>
                      <a:srgbClr val="E6F7F4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02920" y="6382512"/>
            <a:ext cx="11183112" cy="365760"/>
          </a:xfrm>
          <a:prstGeom prst="rect">
            <a:avLst/>
          </a:prstGeom>
          <a:solidFill>
            <a:srgbClr val="E6F7F4"/>
          </a:solidFill>
          <a:ln w="12700">
            <a:solidFill>
              <a:srgbClr val="00C2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419088"/>
            <a:ext cx="10789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243D"/>
                </a:solidFill>
                <a:latin typeface="Arial"/>
              </a:rPr>
              <a:t>Takeaway: Professional automation at a fraction of the cost — built by NXP, for NXP boards.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9184"/>
            <a:ext cx="108813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E243D"/>
                </a:solidFill>
                <a:latin typeface="Arial"/>
              </a:rPr>
              <a:t>Development &amp; Deployment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932688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A6B7C"/>
                </a:solidFill>
                <a:latin typeface="Arial"/>
              </a:rPr>
              <a:t>FCT proven on a real board · ICT plans ready for 8 board types — real-mode validation is the next gate.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1183112" cy="17780"/>
          </a:xfrm>
          <a:prstGeom prst="rect">
            <a:avLst/>
          </a:prstGeom>
          <a:solidFill>
            <a:srgbClr val="D5D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463040"/>
            <a:ext cx="3538728" cy="3017520"/>
          </a:xfrm>
          <a:prstGeom prst="rect">
            <a:avLst/>
          </a:prstGeom>
          <a:solidFill>
            <a:srgbClr val="F2F6FA"/>
          </a:solidFill>
          <a:ln w="12700">
            <a:solidFill>
              <a:srgbClr val="D5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463040"/>
            <a:ext cx="3538728" cy="420624"/>
          </a:xfrm>
          <a:prstGeom prst="rect">
            <a:avLst/>
          </a:prstGeom>
          <a:solidFill>
            <a:srgbClr val="2E9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" y="1517904"/>
            <a:ext cx="32461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FFFFF"/>
                </a:solidFill>
                <a:latin typeface="Arial"/>
              </a:rPr>
              <a:t>Phase 1 · DONE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" y="1993392"/>
            <a:ext cx="32461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50">
                <a:solidFill>
                  <a:srgbClr val="1B2B3A"/>
                </a:solidFill>
                <a:latin typeface="Arial"/>
              </a:rPr>
              <a:t>•  Foundation infra, architecture, GUI and operating modes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1B2B3A"/>
                </a:solidFill>
                <a:latin typeface="Arial"/>
              </a:rPr>
              <a:t>•  Test workflow and core logic developed &amp; verified end to end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059936" y="2834640"/>
            <a:ext cx="246888" cy="274320"/>
          </a:xfrm>
          <a:prstGeom prst="rightArrow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25112" y="1463040"/>
            <a:ext cx="3538728" cy="3017520"/>
          </a:xfrm>
          <a:prstGeom prst="rect">
            <a:avLst/>
          </a:prstGeom>
          <a:solidFill>
            <a:srgbClr val="F2F6FA"/>
          </a:solidFill>
          <a:ln w="12700">
            <a:solidFill>
              <a:srgbClr val="D5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25112" y="1463040"/>
            <a:ext cx="3538728" cy="420624"/>
          </a:xfrm>
          <a:prstGeom prst="rect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71416" y="1517904"/>
            <a:ext cx="32461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0E243D"/>
                </a:solidFill>
                <a:latin typeface="Arial"/>
              </a:rPr>
              <a:t>Phase 2 · IN DEV &amp; DEBUG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71416" y="1993392"/>
            <a:ext cx="32461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50">
                <a:solidFill>
                  <a:srgbClr val="1B2B3A"/>
                </a:solidFill>
                <a:latin typeface="Arial"/>
              </a:rPr>
              <a:t>•  FCT full flow on real FRDM-IMX93: acceptance passed, no obvious bugs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1B2B3A"/>
                </a:solidFill>
                <a:latin typeface="Arial"/>
              </a:rPr>
              <a:t>•  ICT test plans built from design files of 8 different board types — build OK, virtual-mode verified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1B2B3A"/>
                </a:solidFill>
                <a:latin typeface="Arial"/>
              </a:rPr>
              <a:t>•  Real-mode ICT validation pending — instruments not yet on site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882128" y="2834640"/>
            <a:ext cx="246888" cy="274320"/>
          </a:xfrm>
          <a:prstGeom prst="rightArrow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382512" y="1188720"/>
            <a:ext cx="1481328" cy="274320"/>
          </a:xfrm>
          <a:prstGeom prst="roundRect">
            <a:avLst>
              <a:gd name="adj" fmla="val 50000"/>
            </a:avLst>
          </a:prstGeom>
          <a:solidFill>
            <a:srgbClr val="0E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82512" y="1216152"/>
            <a:ext cx="1481328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00C2A8"/>
                </a:solidFill>
                <a:latin typeface="Arial"/>
              </a:rPr>
              <a:t>WE ARE HERE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47304" y="1463040"/>
            <a:ext cx="3538728" cy="3017520"/>
          </a:xfrm>
          <a:prstGeom prst="rect">
            <a:avLst/>
          </a:prstGeom>
          <a:solidFill>
            <a:srgbClr val="F2F6FA"/>
          </a:solidFill>
          <a:ln w="12700">
            <a:solidFill>
              <a:srgbClr val="D5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47304" y="1463040"/>
            <a:ext cx="3538728" cy="420624"/>
          </a:xfrm>
          <a:prstGeom prst="rect">
            <a:avLst/>
          </a:prstGeom>
          <a:solidFill>
            <a:srgbClr val="8A9B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93608" y="1517904"/>
            <a:ext cx="32461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FFFFF"/>
                </a:solidFill>
                <a:latin typeface="Arial"/>
              </a:rPr>
              <a:t>Phase 3 · NEXT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93608" y="1993392"/>
            <a:ext cx="32461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50">
                <a:solidFill>
                  <a:srgbClr val="1B2B3A"/>
                </a:solidFill>
                <a:latin typeface="Arial"/>
              </a:rPr>
              <a:t>•  Run the full flow in real mode — all scenarios, end to end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1B2B3A"/>
                </a:solidFill>
                <a:latin typeface="Arial"/>
              </a:rPr>
              <a:t>•  Adapt more board types onto one common platform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1B2B3A"/>
                </a:solidFill>
                <a:latin typeface="Arial"/>
              </a:rPr>
              <a:t>•  Platform performance optimization — higher development &amp; production test efficiency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1B2B3A"/>
                </a:solidFill>
                <a:latin typeface="Arial"/>
              </a:rPr>
              <a:t>•  Connect to factory cloud server / MES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4709160"/>
            <a:ext cx="11183112" cy="777240"/>
          </a:xfrm>
          <a:prstGeom prst="rect">
            <a:avLst/>
          </a:prstGeom>
          <a:solidFill>
            <a:srgbClr val="FDF3E3"/>
          </a:solidFill>
          <a:ln w="12700">
            <a:solidFill>
              <a:srgbClr val="E89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773168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B46E00"/>
                </a:solidFill>
                <a:latin typeface="Arial"/>
              </a:rPr>
              <a:t>Current challenges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5056632"/>
            <a:ext cx="108813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B2B3A"/>
                </a:solidFill>
                <a:latin typeface="Arial"/>
              </a:rPr>
              <a:t>Instrument rack not yet available on site — real-mode ICT validation is blocked (the Phase-3 gate)  ·  per-product flash-probe integration  ·  Windows packaging &amp; code signing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6382512"/>
            <a:ext cx="11183112" cy="365760"/>
          </a:xfrm>
          <a:prstGeom prst="rect">
            <a:avLst/>
          </a:prstGeom>
          <a:solidFill>
            <a:srgbClr val="E6F7F4"/>
          </a:solidFill>
          <a:ln w="12700">
            <a:solidFill>
              <a:srgbClr val="00C2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6419088"/>
            <a:ext cx="10789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243D"/>
                </a:solidFill>
                <a:latin typeface="Arial"/>
              </a:rPr>
              <a:t>Takeaway: the core is done and proven — from here it is hardening, rollout and scale.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9184"/>
            <a:ext cx="108813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E243D"/>
                </a:solidFill>
                <a:latin typeface="Arial"/>
              </a:rPr>
              <a:t>Hardware BoM &amp; Investment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932688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A6B7C"/>
                </a:solidFill>
                <a:latin typeface="Arial"/>
              </a:rPr>
              <a:t>One complete test station — all off-the-shelf instruments, no PXI chassis required.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1183112" cy="17780"/>
          </a:xfrm>
          <a:prstGeom prst="rect">
            <a:avLst/>
          </a:prstGeom>
          <a:solidFill>
            <a:srgbClr val="D5D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444752"/>
            <a:ext cx="2167128" cy="2788920"/>
          </a:xfrm>
          <a:prstGeom prst="rect">
            <a:avLst/>
          </a:prstGeom>
          <a:solidFill>
            <a:srgbClr val="F2F6FA"/>
          </a:solidFill>
          <a:ln w="12700">
            <a:solidFill>
              <a:srgbClr val="D5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AQ973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891395"/>
            <a:ext cx="1984248" cy="111839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" y="3419856"/>
            <a:ext cx="1984248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>
                <a:solidFill>
                  <a:srgbClr val="0E243D"/>
                </a:solidFill>
                <a:latin typeface="Arial"/>
              </a:rPr>
              <a:t>DAQ973A mainframe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648456"/>
            <a:ext cx="19842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>
                <a:solidFill>
                  <a:srgbClr val="5A6B7C"/>
                </a:solidFill>
                <a:latin typeface="Arial"/>
              </a:rPr>
              <a:t>DMM · 3 slots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877056"/>
            <a:ext cx="198424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008A76"/>
                </a:solidFill>
                <a:latin typeface="Arial"/>
              </a:rPr>
              <a:t>$3,569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52344" y="1444752"/>
            <a:ext cx="2167128" cy="2788920"/>
          </a:xfrm>
          <a:prstGeom prst="rect">
            <a:avLst/>
          </a:prstGeom>
          <a:solidFill>
            <a:srgbClr val="F2F6FA"/>
          </a:solidFill>
          <a:ln w="12700">
            <a:solidFill>
              <a:srgbClr val="D5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DAQM908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3784" y="2013482"/>
            <a:ext cx="1984248" cy="87421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843784" y="3419856"/>
            <a:ext cx="1984248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>
                <a:solidFill>
                  <a:srgbClr val="0E243D"/>
                </a:solidFill>
                <a:latin typeface="Arial"/>
              </a:rPr>
              <a:t>DAQM908A ×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43784" y="3648456"/>
            <a:ext cx="19842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>
                <a:solidFill>
                  <a:srgbClr val="5A6B7C"/>
                </a:solidFill>
                <a:latin typeface="Arial"/>
              </a:rPr>
              <a:t>40-ch mux each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43784" y="3877056"/>
            <a:ext cx="198424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008A76"/>
                </a:solidFill>
                <a:latin typeface="Arial"/>
              </a:rPr>
              <a:t>$1,824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01768" y="1444752"/>
            <a:ext cx="2167128" cy="2788920"/>
          </a:xfrm>
          <a:prstGeom prst="rect">
            <a:avLst/>
          </a:prstGeom>
          <a:solidFill>
            <a:srgbClr val="F2F6FA"/>
          </a:solidFill>
          <a:ln w="12700">
            <a:solidFill>
              <a:srgbClr val="D5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DAQM907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3208" y="1789176"/>
            <a:ext cx="1984248" cy="132283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093208" y="3419856"/>
            <a:ext cx="1984248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>
                <a:solidFill>
                  <a:srgbClr val="0E243D"/>
                </a:solidFill>
                <a:latin typeface="Arial"/>
              </a:rPr>
              <a:t>DAQM907A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3208" y="3648456"/>
            <a:ext cx="19842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>
                <a:solidFill>
                  <a:srgbClr val="5A6B7C"/>
                </a:solidFill>
                <a:latin typeface="Arial"/>
              </a:rPr>
              <a:t>Fixture IO · AO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93208" y="3877056"/>
            <a:ext cx="198424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008A76"/>
                </a:solidFill>
                <a:latin typeface="Arial"/>
              </a:rPr>
              <a:t>$895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51192" y="1444752"/>
            <a:ext cx="2167128" cy="2788920"/>
          </a:xfrm>
          <a:prstGeom prst="rect">
            <a:avLst/>
          </a:prstGeom>
          <a:solidFill>
            <a:srgbClr val="F2F6FA"/>
          </a:solidFill>
          <a:ln w="12700">
            <a:solidFill>
              <a:srgbClr val="D5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U2355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2632" y="1983510"/>
            <a:ext cx="1984248" cy="93416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342632" y="3419856"/>
            <a:ext cx="1984248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>
                <a:solidFill>
                  <a:srgbClr val="0E243D"/>
                </a:solidFill>
                <a:latin typeface="Arial"/>
              </a:rPr>
              <a:t>U2355A 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42632" y="3648456"/>
            <a:ext cx="19842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>
                <a:solidFill>
                  <a:srgbClr val="5A6B7C"/>
                </a:solidFill>
                <a:latin typeface="Arial"/>
              </a:rPr>
              <a:t>Rail capture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42632" y="3877056"/>
            <a:ext cx="198424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008A76"/>
                </a:solidFill>
                <a:latin typeface="Arial"/>
              </a:rPr>
              <a:t>$2,100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500616" y="1444752"/>
            <a:ext cx="2167128" cy="2788920"/>
          </a:xfrm>
          <a:prstGeom prst="rect">
            <a:avLst/>
          </a:prstGeom>
          <a:solidFill>
            <a:srgbClr val="F2F6FA"/>
          </a:solidFill>
          <a:ln w="12700">
            <a:solidFill>
              <a:srgbClr val="D5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N5747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92056" y="2141262"/>
            <a:ext cx="1984248" cy="618659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10753344" y="1572768"/>
            <a:ext cx="786384" cy="219456"/>
          </a:xfrm>
          <a:prstGeom prst="roundRect">
            <a:avLst>
              <a:gd name="adj" fmla="val 50000"/>
            </a:avLst>
          </a:prstGeom>
          <a:solidFill>
            <a:srgbClr val="E89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753344" y="1586484"/>
            <a:ext cx="78638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OPTIONAL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92056" y="3419856"/>
            <a:ext cx="1984248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>
                <a:solidFill>
                  <a:srgbClr val="0E243D"/>
                </a:solidFill>
                <a:latin typeface="Arial"/>
              </a:rPr>
              <a:t>N5747A PSU (optional)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92056" y="3648456"/>
            <a:ext cx="19842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>
                <a:solidFill>
                  <a:srgbClr val="5A6B7C"/>
                </a:solidFill>
                <a:latin typeface="Arial"/>
              </a:rPr>
              <a:t>Use DUT adapter when provided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92056" y="3877056"/>
            <a:ext cx="198424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008A76"/>
                </a:solidFill>
                <a:latin typeface="Arial"/>
              </a:rPr>
              <a:t>$3,902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4434840"/>
            <a:ext cx="11183112" cy="1600200"/>
          </a:xfrm>
          <a:prstGeom prst="rect">
            <a:avLst/>
          </a:prstGeom>
          <a:solidFill>
            <a:srgbClr val="F2F6FA"/>
          </a:solidFill>
          <a:ln w="12700">
            <a:solidFill>
              <a:srgbClr val="D5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" y="4617720"/>
            <a:ext cx="5120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0E243D"/>
                </a:solidFill>
                <a:latin typeface="Arial"/>
              </a:rPr>
              <a:t>≈ $15–19k / station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5349240"/>
            <a:ext cx="5120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B2B3A"/>
                </a:solidFill>
                <a:latin typeface="Arial"/>
              </a:rPr>
              <a:t>One-time hardware · $0 software license (in-house)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89320" y="4617720"/>
            <a:ext cx="12700" cy="1234440"/>
          </a:xfrm>
          <a:prstGeom prst="rect">
            <a:avLst/>
          </a:prstGeom>
          <a:solidFill>
            <a:srgbClr val="D5D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55080" y="4663440"/>
            <a:ext cx="5029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243D"/>
                </a:solidFill>
                <a:latin typeface="Arial"/>
              </a:rPr>
              <a:t>vs. PXI alternative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55080" y="4983480"/>
            <a:ext cx="51206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B2B3A"/>
                </a:solidFill>
                <a:latin typeface="Arial"/>
              </a:rPr>
              <a:t>Typical PXI station: $30–50k+ plus annual software licenses. MTK runs on USB/LAN instruments you may already own.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" y="5742432"/>
            <a:ext cx="10607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5A6B7C"/>
                </a:solidFill>
                <a:latin typeface="Arial"/>
              </a:rPr>
              <a:t>*Keysight US list prices (Oct 2026) · †U2355A discontinued — reseller price · ~ = estimate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9184"/>
            <a:ext cx="108813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E243D"/>
                </a:solidFill>
                <a:latin typeface="Arial"/>
              </a:rPr>
              <a:t>Investment &amp; Deployment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932688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A6B7C"/>
                </a:solidFill>
                <a:latin typeface="Arial"/>
              </a:rPr>
              <a:t>Per-station total ≈ $15.4–19.3k (PSU optional) — one BoM, two use cases.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1183112" cy="17780"/>
          </a:xfrm>
          <a:prstGeom prst="rect">
            <a:avLst/>
          </a:prstGeom>
          <a:solidFill>
            <a:srgbClr val="D5D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463040"/>
          <a:ext cx="11183112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731520"/>
                <a:gridCol w="5212080"/>
                <a:gridCol w="2404872"/>
              </a:tblGrid>
              <a:tr h="41148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Other items</a:t>
                      </a:r>
                    </a:p>
                  </a:txBody>
                  <a:tcPr marL="91440" marR="73152" marT="27432" marB="27432" anchor="ctr">
                    <a:solidFill>
                      <a:srgbClr val="0E24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Qty</a:t>
                      </a:r>
                    </a:p>
                  </a:txBody>
                  <a:tcPr marL="91440" marR="73152" marT="27432" marB="27432" anchor="ctr">
                    <a:solidFill>
                      <a:srgbClr val="0E24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What it does</a:t>
                      </a:r>
                    </a:p>
                  </a:txBody>
                  <a:tcPr marL="91440" marR="73152" marT="27432" marB="27432" anchor="ctr">
                    <a:solidFill>
                      <a:srgbClr val="0E243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Price*</a:t>
                      </a:r>
                    </a:p>
                  </a:txBody>
                  <a:tcPr marL="91440" marR="73152" marT="27432" marB="27432" anchor="ctr">
                    <a:solidFill>
                      <a:srgbClr val="0E243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B2B3A"/>
                          </a:solidFill>
                          <a:latin typeface="Arial"/>
                        </a:rPr>
                        <a:t>J-Link flash probe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5A6B7C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A6B7C"/>
                          </a:solidFill>
                          <a:latin typeface="Arial"/>
                        </a:rPr>
                        <a:t>Firmware flashing (FAT / OOBE) — reusable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B2B3A"/>
                          </a:solidFill>
                          <a:latin typeface="Arial"/>
                        </a:rPr>
                        <a:t>~$500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B2B3A"/>
                          </a:solidFill>
                          <a:latin typeface="Arial"/>
                        </a:rPr>
                        <a:t>HOST PC (Windows 11 Pro)</a:t>
                      </a:r>
                    </a:p>
                  </a:txBody>
                  <a:tcPr marL="91440" marR="73152" marT="27432" marB="27432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5A6B7C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91440" marR="73152" marT="27432" marB="27432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A6B7C"/>
                          </a:solidFill>
                          <a:latin typeface="Arial"/>
                        </a:rPr>
                        <a:t>Runs the MTK desktop app — reusable</a:t>
                      </a:r>
                    </a:p>
                  </a:txBody>
                  <a:tcPr marL="91440" marR="73152" marT="27432" marB="27432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B2B3A"/>
                          </a:solidFill>
                          <a:latin typeface="Arial"/>
                        </a:rPr>
                        <a:t>~$1,500</a:t>
                      </a:r>
                    </a:p>
                  </a:txBody>
                  <a:tcPr marL="91440" marR="73152" marT="27432" marB="27432" anchor="ctr">
                    <a:solidFill>
                      <a:srgbClr val="F2F6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B2B3A"/>
                          </a:solidFill>
                          <a:latin typeface="Arial"/>
                        </a:rPr>
                        <a:t>ATE test fixture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5A6B7C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A6B7C"/>
                          </a:solidFill>
                          <a:latin typeface="Arial"/>
                        </a:rPr>
                        <a:t>Custom per project — incl. assembly labor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B2B3A"/>
                          </a:solidFill>
                          <a:latin typeface="Arial"/>
                        </a:rPr>
                        <a:t>~$4,000+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B2B3A"/>
                          </a:solidFill>
                          <a:latin typeface="Arial"/>
                        </a:rPr>
                        <a:t>Peripherals &amp; cabling</a:t>
                      </a:r>
                    </a:p>
                  </a:txBody>
                  <a:tcPr marL="91440" marR="73152" marT="27432" marB="27432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5A6B7C"/>
                          </a:solidFill>
                          <a:latin typeface="Arial"/>
                        </a:rPr>
                        <a:t>1 set</a:t>
                      </a:r>
                    </a:p>
                  </a:txBody>
                  <a:tcPr marL="91440" marR="73152" marT="27432" marB="27432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A6B7C"/>
                          </a:solidFill>
                          <a:latin typeface="Arial"/>
                        </a:rPr>
                        <a:t>Custom per project — incl. assembly labor</a:t>
                      </a:r>
                    </a:p>
                  </a:txBody>
                  <a:tcPr marL="91440" marR="73152" marT="27432" marB="27432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B2B3A"/>
                          </a:solidFill>
                          <a:latin typeface="Arial"/>
                        </a:rPr>
                        <a:t>~$1,000+</a:t>
                      </a:r>
                    </a:p>
                  </a:txBody>
                  <a:tcPr marL="91440" marR="73152" marT="27432" marB="27432" anchor="ctr">
                    <a:solidFill>
                      <a:srgbClr val="F2F6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E243D"/>
                          </a:solidFill>
                          <a:latin typeface="Arial"/>
                        </a:rPr>
                        <a:t>TOTAL PER STATION</a:t>
                      </a:r>
                    </a:p>
                  </a:txBody>
                  <a:tcPr marL="91440" marR="73152" marT="27432" marB="27432" anchor="ctr">
                    <a:solidFill>
                      <a:srgbClr val="00C2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E243D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91440" marR="73152" marT="27432" marB="27432" anchor="ctr">
                    <a:solidFill>
                      <a:srgbClr val="00C2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E243D"/>
                          </a:solidFill>
                          <a:latin typeface="Arial"/>
                        </a:rPr>
                        <a:t>PSU optional — DUT adapter first</a:t>
                      </a:r>
                    </a:p>
                  </a:txBody>
                  <a:tcPr marL="91440" marR="73152" marT="27432" marB="27432" anchor="ctr">
                    <a:solidFill>
                      <a:srgbClr val="00C2A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0E243D"/>
                          </a:solidFill>
                          <a:latin typeface="Arial"/>
                        </a:rPr>
                        <a:t>≈ $15.4–19.3k</a:t>
                      </a:r>
                    </a:p>
                  </a:txBody>
                  <a:tcPr marL="91440" marR="73152" marT="27432" marB="27432" anchor="ctr">
                    <a:solidFill>
                      <a:srgbClr val="00C2A8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02920" y="4160520"/>
            <a:ext cx="5486400" cy="1828800"/>
          </a:xfrm>
          <a:prstGeom prst="rect">
            <a:avLst/>
          </a:prstGeom>
          <a:solidFill>
            <a:srgbClr val="F2F6FA"/>
          </a:solidFill>
          <a:ln w="12700">
            <a:solidFill>
              <a:srgbClr val="D5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4160520"/>
            <a:ext cx="64008" cy="1828800"/>
          </a:xfrm>
          <a:prstGeom prst="rect">
            <a:avLst/>
          </a:prstGeom>
          <a:solidFill>
            <a:srgbClr val="0E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2376" y="4306824"/>
            <a:ext cx="50292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E243D"/>
                </a:solidFill>
                <a:latin typeface="Arial"/>
              </a:rPr>
              <a:t>NXP internal — 3 stations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" y="4681728"/>
            <a:ext cx="50749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50">
                <a:solidFill>
                  <a:srgbClr val="1B2B3A"/>
                </a:solidFill>
                <a:latin typeface="Arial"/>
              </a:rPr>
              <a:t>Romania · Mexico · China — one station each</a:t>
            </a:r>
          </a:p>
          <a:p>
            <a:pPr>
              <a:spcAft>
                <a:spcPts val="400"/>
              </a:spcAft>
            </a:pPr>
            <a:r>
              <a:rPr sz="1150">
                <a:solidFill>
                  <a:srgbClr val="1B2B3A"/>
                </a:solidFill>
                <a:latin typeface="Arial"/>
              </a:rPr>
              <a:t>Used for platform &amp; project development verification</a:t>
            </a:r>
          </a:p>
          <a:p>
            <a:pPr>
              <a:spcAft>
                <a:spcPts val="400"/>
              </a:spcAft>
            </a:pPr>
            <a:r>
              <a:rPr sz="1150">
                <a:solidFill>
                  <a:srgbClr val="1B2B3A"/>
                </a:solidFill>
                <a:latin typeface="Arial"/>
              </a:rPr>
              <a:t>Shared YAML projects &amp; benchmark keep all sites aligned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99632" y="4160520"/>
            <a:ext cx="5486400" cy="1828800"/>
          </a:xfrm>
          <a:prstGeom prst="rect">
            <a:avLst/>
          </a:prstGeom>
          <a:solidFill>
            <a:srgbClr val="F2F6FA"/>
          </a:solidFill>
          <a:ln w="12700">
            <a:solidFill>
              <a:srgbClr val="D5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9632" y="4160520"/>
            <a:ext cx="64008" cy="1828800"/>
          </a:xfrm>
          <a:prstGeom prst="rect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9088" y="4306824"/>
            <a:ext cx="50292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E243D"/>
                </a:solidFill>
                <a:latin typeface="Arial"/>
              </a:rPr>
              <a:t>Supplier factories — scale by demand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4681728"/>
            <a:ext cx="50749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50">
                <a:solidFill>
                  <a:srgbClr val="1B2B3A"/>
                </a:solidFill>
                <a:latin typeface="Arial"/>
              </a:rPr>
              <a:t>Suppliers decide station count per order volume</a:t>
            </a:r>
          </a:p>
          <a:p>
            <a:pPr>
              <a:spcAft>
                <a:spcPts val="400"/>
              </a:spcAft>
            </a:pPr>
            <a:r>
              <a:rPr sz="1150">
                <a:solidFill>
                  <a:srgbClr val="1B2B3A"/>
                </a:solidFill>
                <a:latin typeface="Arial"/>
              </a:rPr>
              <a:t>Investment based on our published BoM list</a:t>
            </a:r>
          </a:p>
          <a:p>
            <a:pPr>
              <a:spcAft>
                <a:spcPts val="400"/>
              </a:spcAft>
            </a:pPr>
            <a:r>
              <a:rPr sz="1150">
                <a:solidFill>
                  <a:srgbClr val="1B2B3A"/>
                </a:solidFill>
                <a:latin typeface="Arial"/>
              </a:rPr>
              <a:t>Acceptance runs against our benchmark station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6236208"/>
            <a:ext cx="11183112" cy="365760"/>
          </a:xfrm>
          <a:prstGeom prst="rect">
            <a:avLst/>
          </a:prstGeom>
          <a:solidFill>
            <a:srgbClr val="E6F7F4"/>
          </a:solidFill>
          <a:ln w="12700">
            <a:solidFill>
              <a:srgbClr val="00C2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6272784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E243D"/>
                </a:solidFill>
                <a:latin typeface="Arial"/>
              </a:rPr>
              <a:t>Reusable: instruments &amp; PC · Custom per project: fixture &amp; cabling (incl. assembly labor) · PSU optional (DUT adapter first)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9184"/>
            <a:ext cx="108813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E243D"/>
                </a:solidFill>
                <a:latin typeface="Arial"/>
              </a:rPr>
              <a:t>MTK vs. Traditional Manual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932688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A6B7C"/>
                </a:solidFill>
                <a:latin typeface="Arial"/>
              </a:rPr>
              <a:t>Same board — very different test depth.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1183112" cy="17780"/>
          </a:xfrm>
          <a:prstGeom prst="rect">
            <a:avLst/>
          </a:prstGeom>
          <a:solidFill>
            <a:srgbClr val="D5D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463040"/>
            <a:ext cx="5486400" cy="1828800"/>
          </a:xfrm>
          <a:prstGeom prst="rect">
            <a:avLst/>
          </a:prstGeom>
          <a:solidFill>
            <a:srgbClr val="F2F6FA"/>
          </a:solidFill>
          <a:ln w="12700">
            <a:solidFill>
              <a:srgbClr val="D5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463040"/>
            <a:ext cx="64008" cy="1828800"/>
          </a:xfrm>
          <a:prstGeom prst="rect">
            <a:avLst/>
          </a:prstGeom>
          <a:solidFill>
            <a:srgbClr val="0E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2376" y="1591056"/>
            <a:ext cx="504748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E243D"/>
                </a:solidFill>
                <a:latin typeface="Arial"/>
              </a:rPr>
              <a:t>Impedance &amp; voltage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" y="2011680"/>
            <a:ext cx="5047488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B33A3A"/>
                </a:solidFill>
                <a:latin typeface="Arial"/>
              </a:rPr>
              <a:t>✗  MANUAL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" y="2249424"/>
            <a:ext cx="504748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B7C"/>
                </a:solidFill>
                <a:latin typeface="Arial"/>
              </a:rPr>
              <a:t>Handheld DMM, one point at a time — slow and operator-dependent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2376" y="2724912"/>
            <a:ext cx="5047488" cy="12700"/>
          </a:xfrm>
          <a:prstGeom prst="rect">
            <a:avLst/>
          </a:prstGeom>
          <a:solidFill>
            <a:srgbClr val="D5D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2376" y="2816352"/>
            <a:ext cx="5047488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08A76"/>
                </a:solidFill>
                <a:latin typeface="Arial"/>
              </a:rPr>
              <a:t>✓  MTK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" y="3054096"/>
            <a:ext cx="5047488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B2B3A"/>
                </a:solidFill>
                <a:latin typeface="Arial"/>
              </a:rPr>
              <a:t>80 points scanned automatically in seconds, ±0.1% voltage accuracy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9632" y="1463040"/>
            <a:ext cx="5486400" cy="1828800"/>
          </a:xfrm>
          <a:prstGeom prst="rect">
            <a:avLst/>
          </a:prstGeom>
          <a:solidFill>
            <a:srgbClr val="F2F6FA"/>
          </a:solidFill>
          <a:ln w="12700">
            <a:solidFill>
              <a:srgbClr val="D5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9632" y="1463040"/>
            <a:ext cx="64008" cy="1828800"/>
          </a:xfrm>
          <a:prstGeom prst="rect">
            <a:avLst/>
          </a:prstGeom>
          <a:solidFill>
            <a:srgbClr val="0E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591056"/>
            <a:ext cx="504748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E243D"/>
                </a:solidFill>
                <a:latin typeface="Arial"/>
              </a:rPr>
              <a:t>Clock verification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011680"/>
            <a:ext cx="5047488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B33A3A"/>
                </a:solidFill>
                <a:latin typeface="Arial"/>
              </a:rPr>
              <a:t>✗  MANUAL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2249424"/>
            <a:ext cx="504748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B7C"/>
                </a:solidFill>
                <a:latin typeface="Arial"/>
              </a:rPr>
              <a:t>Oscilloscope eyeballing — “clock exists”, no precision guarantee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19088" y="2724912"/>
            <a:ext cx="5047488" cy="12700"/>
          </a:xfrm>
          <a:prstGeom prst="rect">
            <a:avLst/>
          </a:prstGeom>
          <a:solidFill>
            <a:srgbClr val="D5D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19088" y="2816352"/>
            <a:ext cx="5047488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08A76"/>
                </a:solidFill>
                <a:latin typeface="Arial"/>
              </a:rPr>
              <a:t>✓  MTK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9088" y="3054096"/>
            <a:ext cx="5047488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B2B3A"/>
                </a:solidFill>
                <a:latin typeface="Arial"/>
              </a:rPr>
              <a:t>Counters measure each clock to spec: 32.768 kHz / 4 MHz / 6 MHz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3429000"/>
            <a:ext cx="5486400" cy="1828800"/>
          </a:xfrm>
          <a:prstGeom prst="rect">
            <a:avLst/>
          </a:prstGeom>
          <a:solidFill>
            <a:srgbClr val="F2F6FA"/>
          </a:solidFill>
          <a:ln w="12700">
            <a:solidFill>
              <a:srgbClr val="D5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3429000"/>
            <a:ext cx="64008" cy="1828800"/>
          </a:xfrm>
          <a:prstGeom prst="rect">
            <a:avLst/>
          </a:prstGeom>
          <a:solidFill>
            <a:srgbClr val="0E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2376" y="3557016"/>
            <a:ext cx="504748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E243D"/>
                </a:solidFill>
                <a:latin typeface="Arial"/>
              </a:rPr>
              <a:t>Power-up sequence waveform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" y="3977640"/>
            <a:ext cx="5047488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B33A3A"/>
                </a:solidFill>
                <a:latin typeface="Arial"/>
              </a:rPr>
              <a:t>✗  MANUAL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" y="4215384"/>
            <a:ext cx="504748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B7C"/>
                </a:solidFill>
                <a:latin typeface="Arial"/>
              </a:rPr>
              <a:t>Not possible — scopes offer at most 4 channels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22376" y="4690872"/>
            <a:ext cx="5047488" cy="12700"/>
          </a:xfrm>
          <a:prstGeom prst="rect">
            <a:avLst/>
          </a:prstGeom>
          <a:solidFill>
            <a:srgbClr val="D5D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2376" y="4782312"/>
            <a:ext cx="5047488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08A76"/>
                </a:solidFill>
                <a:latin typeface="Arial"/>
              </a:rPr>
              <a:t>✓  MTK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2376" y="5020056"/>
            <a:ext cx="5047488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B2B3A"/>
                </a:solidFill>
                <a:latin typeface="Arial"/>
              </a:rPr>
              <a:t>12 power rails captured at ms level; rise, overshoot &amp; ripple auto-graded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99632" y="3429000"/>
            <a:ext cx="5486400" cy="1828800"/>
          </a:xfrm>
          <a:prstGeom prst="rect">
            <a:avLst/>
          </a:prstGeom>
          <a:solidFill>
            <a:srgbClr val="F2F6FA"/>
          </a:solidFill>
          <a:ln w="12700">
            <a:solidFill>
              <a:srgbClr val="D5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99632" y="3429000"/>
            <a:ext cx="64008" cy="1828800"/>
          </a:xfrm>
          <a:prstGeom prst="rect">
            <a:avLst/>
          </a:prstGeom>
          <a:solidFill>
            <a:srgbClr val="0E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19088" y="3557016"/>
            <a:ext cx="504748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E243D"/>
                </a:solidFill>
                <a:latin typeface="Arial"/>
              </a:rPr>
              <a:t>RF function tests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19088" y="3977640"/>
            <a:ext cx="5047488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B33A3A"/>
                </a:solidFill>
                <a:latin typeface="Arial"/>
              </a:rPr>
              <a:t>✗  MANUAL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19088" y="4215384"/>
            <a:ext cx="504748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B7C"/>
                </a:solidFill>
                <a:latin typeface="Arial"/>
              </a:rPr>
              <a:t>Skipped — far too complex to operate by hand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19088" y="4690872"/>
            <a:ext cx="5047488" cy="12700"/>
          </a:xfrm>
          <a:prstGeom prst="rect">
            <a:avLst/>
          </a:prstGeom>
          <a:solidFill>
            <a:srgbClr val="D5D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19088" y="4782312"/>
            <a:ext cx="5047488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08A76"/>
                </a:solidFill>
                <a:latin typeface="Arial"/>
              </a:rPr>
              <a:t>✓  MTK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19088" y="5020056"/>
            <a:ext cx="5047488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B2B3A"/>
                </a:solidFill>
                <a:latin typeface="Arial"/>
              </a:rPr>
              <a:t>Wi-Fi, Bluetooth &amp; GNSS tested automatically with pass/fail verdicts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" y="5394960"/>
            <a:ext cx="11183112" cy="868680"/>
          </a:xfrm>
          <a:prstGeom prst="rect">
            <a:avLst/>
          </a:prstGeom>
          <a:solidFill>
            <a:srgbClr val="F2F6FA"/>
          </a:solidFill>
          <a:ln w="12700">
            <a:solidFill>
              <a:srgbClr val="D5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02920" y="5394960"/>
            <a:ext cx="64008" cy="868680"/>
          </a:xfrm>
          <a:prstGeom prst="rect">
            <a:avLst/>
          </a:prstGeom>
          <a:solidFill>
            <a:srgbClr val="0E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22376" y="5669280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E243D"/>
                </a:solidFill>
                <a:latin typeface="Arial"/>
              </a:rPr>
              <a:t>Power net &amp; test point selection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337560" y="5504688"/>
            <a:ext cx="40233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B33A3A"/>
                </a:solidFill>
                <a:latin typeface="Arial"/>
              </a:rPr>
              <a:t>✗  MANUAL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337560" y="5742432"/>
            <a:ext cx="4023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A6B7C"/>
                </a:solidFill>
                <a:latin typeface="Arial"/>
              </a:rPr>
              <a:t>Workers study design documents to locate power nets and test points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80960" y="5504688"/>
            <a:ext cx="3749039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08A76"/>
                </a:solidFill>
                <a:latin typeface="Arial"/>
              </a:rPr>
              <a:t>✓  MTK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80960" y="5742432"/>
            <a:ext cx="374903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B2B3A"/>
                </a:solidFill>
                <a:latin typeface="Arial"/>
              </a:rPr>
              <a:t>AI algorithm auto-selects power nets and the best test points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2920" y="6382512"/>
            <a:ext cx="11183112" cy="365760"/>
          </a:xfrm>
          <a:prstGeom prst="rect">
            <a:avLst/>
          </a:prstGeom>
          <a:solidFill>
            <a:srgbClr val="E6F7F4"/>
          </a:solidFill>
          <a:ln w="12700">
            <a:solidFill>
              <a:srgbClr val="00C2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85800" y="6419088"/>
            <a:ext cx="10789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243D"/>
                </a:solidFill>
                <a:latin typeface="Arial"/>
              </a:rPr>
              <a:t>Takeaway: MTK turns today’s spot checks into full-coverage, high-precision, automated testing.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29184"/>
            <a:ext cx="108813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rial"/>
              </a:rPr>
              <a:t>Summary &amp; 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932688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C7D3E1"/>
                </a:solidFill>
                <a:latin typeface="Arial"/>
              </a:rPr>
              <a:t>One decision unlocks real-mode validation and production rollout.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98448"/>
            <a:ext cx="11183112" cy="17780"/>
          </a:xfrm>
          <a:prstGeom prst="rect">
            <a:avLst/>
          </a:prstGeom>
          <a:solidFill>
            <a:srgbClr val="2A4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600200"/>
            <a:ext cx="6263640" cy="1280160"/>
          </a:xfrm>
          <a:prstGeom prst="rect">
            <a:avLst/>
          </a:prstGeom>
          <a:solidFill>
            <a:srgbClr val="173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00200"/>
            <a:ext cx="64008" cy="1280160"/>
          </a:xfrm>
          <a:prstGeom prst="rect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1801368"/>
            <a:ext cx="402336" cy="402336"/>
          </a:xfrm>
          <a:prstGeom prst="ellipse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847088"/>
            <a:ext cx="40233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0E243D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8448" y="1746504"/>
            <a:ext cx="53492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rial"/>
              </a:rPr>
              <a:t>All-in-one, ready to scale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8448" y="2112264"/>
            <a:ext cx="53492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C7D3E1"/>
                </a:solidFill>
                <a:latin typeface="Arial"/>
              </a:rPr>
              <a:t>From design to platform, from net to system — one common platform for all NXP Commercial Boards.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017520"/>
            <a:ext cx="6263640" cy="1280160"/>
          </a:xfrm>
          <a:prstGeom prst="rect">
            <a:avLst/>
          </a:prstGeom>
          <a:solidFill>
            <a:srgbClr val="173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3017520"/>
            <a:ext cx="64008" cy="1280160"/>
          </a:xfrm>
          <a:prstGeom prst="rect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31520" y="3218688"/>
            <a:ext cx="402336" cy="402336"/>
          </a:xfrm>
          <a:prstGeom prst="ellipse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264408"/>
            <a:ext cx="40233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0E243D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98448" y="3163824"/>
            <a:ext cx="53492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rial"/>
              </a:rPr>
              <a:t>Professional automation, zero license fees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98448" y="3529584"/>
            <a:ext cx="53492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C7D3E1"/>
                </a:solidFill>
                <a:latin typeface="Arial"/>
              </a:rPr>
              <a:t>≈ $15–19k one-time per station; no recurring software cost — built by NXP, for NXP boards.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434840"/>
            <a:ext cx="6263640" cy="1280160"/>
          </a:xfrm>
          <a:prstGeom prst="rect">
            <a:avLst/>
          </a:prstGeom>
          <a:solidFill>
            <a:srgbClr val="173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4434840"/>
            <a:ext cx="64008" cy="1280160"/>
          </a:xfrm>
          <a:prstGeom prst="rect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31520" y="4636008"/>
            <a:ext cx="402336" cy="402336"/>
          </a:xfrm>
          <a:prstGeom prst="ellipse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681728"/>
            <a:ext cx="40233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0E243D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98448" y="4581144"/>
            <a:ext cx="53492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rial"/>
              </a:rPr>
              <a:t>Proven, not paperware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98448" y="4946904"/>
            <a:ext cx="53492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C7D3E1"/>
                </a:solidFill>
                <a:latin typeface="Arial"/>
              </a:rPr>
              <a:t>FCT accepted on a real board with no obvious bugs; ICT test plans built for 8 board types.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086600" y="1600200"/>
            <a:ext cx="4599432" cy="4297680"/>
          </a:xfrm>
          <a:prstGeom prst="rect">
            <a:avLst/>
          </a:prstGeom>
          <a:solidFill>
            <a:srgbClr val="173352"/>
          </a:solidFill>
          <a:ln w="19050">
            <a:solidFill>
              <a:srgbClr val="00C2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60920" y="1783080"/>
            <a:ext cx="4023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0C2A8"/>
                </a:solidFill>
                <a:latin typeface="Arial"/>
              </a:rPr>
              <a:t>THE ASK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60920" y="2331720"/>
            <a:ext cx="40690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FFFFF"/>
                </a:solidFill>
                <a:latin typeface="Arial"/>
              </a:rPr>
              <a:t>▶  Approve the instrument rack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9520" y="2697480"/>
            <a:ext cx="38862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C7D3E1"/>
                </a:solidFill>
                <a:latin typeface="Arial"/>
              </a:rPr>
              <a:t>≈ $15.4–19.3k per station (N5747A optional) — unlocks Phase 3: real-mode, full-flow validation.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60920" y="3931920"/>
            <a:ext cx="40690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FFFFF"/>
                </a:solidFill>
                <a:latin typeface="Arial"/>
              </a:rPr>
              <a:t>▶  Endorse the pilot rollout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89520" y="4297680"/>
            <a:ext cx="38862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C7D3E1"/>
                </a:solidFill>
                <a:latin typeface="Arial"/>
              </a:rPr>
              <a:t>First production-floor station, onboarding more board types with the HWS-CC TE team.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6263640"/>
            <a:ext cx="11183112" cy="15240"/>
          </a:xfrm>
          <a:prstGeom prst="rect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5528" y="635508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7D3E1"/>
                </a:solidFill>
                <a:latin typeface="Arial"/>
              </a:rPr>
              <a:t>Developed &amp; deployed by NXP HWS-CC Team — all TE engineers  ·  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